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66" r:id="rId16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jrISgbnkDMCvbFWTgmizyC+e0z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2"/>
          <p:cNvSpPr/>
          <p:nvPr/>
        </p:nvSpPr>
        <p:spPr>
          <a:xfrm rot="10800000" flipH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12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2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2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2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" name="Google Shape;16;p12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2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Google Shape;18;p12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2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2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2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22;p12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2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" name="Google Shape;24;p12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CO-OP Project at Industry (Module-2) (22CS421) </a:t>
            </a:r>
          </a:p>
          <a:p>
            <a:pPr lvl="0" algn="ctr"/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dirty="0"/>
          </a:p>
          <a:p>
            <a:pPr lvl="0" algn="ctr">
              <a:spcBef>
                <a:spcPts val="400"/>
              </a:spcBef>
            </a:pPr>
            <a:r>
              <a:rPr lang="en-US" sz="3200" dirty="0"/>
              <a:t>AI Chatbots in Education: Ethical, Cognitive, and Security Implications for Children </a:t>
            </a:r>
            <a:endParaRPr sz="3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Ashita Chhabra :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2210991405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Ansh Popli: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2210991298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/>
                <a:cs typeface="Times New Roman"/>
                <a:sym typeface="Times New Roman"/>
              </a:rPr>
              <a:t>Jaskirat Kaur : </a:t>
            </a:r>
            <a:r>
              <a:rPr lang="en-US" sz="2000" dirty="0">
                <a:latin typeface="Times New Roman"/>
                <a:cs typeface="Times New Roman"/>
                <a:sym typeface="Times New Roman"/>
              </a:rPr>
              <a:t>2210991701</a:t>
            </a:r>
            <a:endParaRPr b="1"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Ansh Rehan: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2210991299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Ajay Kumar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17988" y="147484"/>
            <a:ext cx="331853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117988" y="960975"/>
            <a:ext cx="8622890" cy="5527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 algn="just">
              <a:lnSpc>
                <a:spcPct val="109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(AI) has become a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transformative force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modern education systems worldwide</a:t>
            </a:r>
          </a:p>
          <a:p>
            <a:pPr lvl="0" algn="just">
              <a:lnSpc>
                <a:spcPct val="109000"/>
              </a:lnSpc>
              <a:buClr>
                <a:schemeClr val="dk1"/>
              </a:buClr>
              <a:buSzPts val="1800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09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chatbots use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(NLP) to simulate human-like interactions</a:t>
            </a:r>
          </a:p>
          <a:p>
            <a:pPr marL="285750" lvl="0" indent="-285750" algn="just">
              <a:lnSpc>
                <a:spcPct val="109000"/>
              </a:lnSpc>
              <a:buClr>
                <a:schemeClr val="dk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09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like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 intelligent, context-aware responses to student queries</a:t>
            </a:r>
          </a:p>
          <a:p>
            <a:pPr lvl="0" algn="just">
              <a:lnSpc>
                <a:spcPct val="109000"/>
              </a:lnSpc>
              <a:buClr>
                <a:schemeClr val="dk1"/>
              </a:buClr>
              <a:buSzPts val="1800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09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support: </a:t>
            </a:r>
          </a:p>
          <a:p>
            <a:pPr lvl="1" algn="just">
              <a:lnSpc>
                <a:spcPct val="109000"/>
              </a:lnSpc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* Personalized learning experiences </a:t>
            </a:r>
          </a:p>
          <a:p>
            <a:pPr lvl="1" algn="just">
              <a:lnSpc>
                <a:spcPct val="109000"/>
              </a:lnSpc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* Continuous academic assistance </a:t>
            </a:r>
          </a:p>
          <a:p>
            <a:pPr lvl="1" algn="just">
              <a:lnSpc>
                <a:spcPct val="109000"/>
              </a:lnSpc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	              * Interactive and engaging learning environments</a:t>
            </a:r>
          </a:p>
          <a:p>
            <a:pPr marL="285750" lvl="1" indent="-285750" algn="just">
              <a:lnSpc>
                <a:spcPct val="109000"/>
              </a:lnSpc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chatbots are increasingly used by students for:</a:t>
            </a:r>
          </a:p>
          <a:p>
            <a:pPr lvl="1" algn="just">
              <a:lnSpc>
                <a:spcPct val="109000"/>
              </a:lnSpc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* Homework assistance </a:t>
            </a:r>
          </a:p>
          <a:p>
            <a:pPr lvl="1" algn="just">
              <a:lnSpc>
                <a:spcPct val="109000"/>
              </a:lnSpc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* Concept clarification </a:t>
            </a:r>
          </a:p>
          <a:p>
            <a:pPr lvl="1" algn="just">
              <a:lnSpc>
                <a:spcPct val="109000"/>
              </a:lnSpc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* Writing and grammar improvement	</a:t>
            </a:r>
          </a:p>
          <a:p>
            <a:pPr marL="285750" lvl="1" indent="-285750" algn="just">
              <a:lnSpc>
                <a:spcPct val="109000"/>
              </a:lnSpc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 accessibility makes learning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beyond traditional classroom hours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/>
        </p:nvSpPr>
        <p:spPr>
          <a:xfrm>
            <a:off x="176980" y="1197237"/>
            <a:ext cx="8367252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00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chatbots act as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learning assistants.</a:t>
            </a:r>
          </a:p>
          <a:p>
            <a:pPr marL="114300" lvl="0" algn="just">
              <a:buClr>
                <a:schemeClr val="dk1"/>
              </a:buClr>
              <a:buSzPts val="18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instant feedback and real-time responses to queries.</a:t>
            </a:r>
          </a:p>
          <a:p>
            <a:pPr marL="114300" lvl="0" algn="just">
              <a:buClr>
                <a:schemeClr val="dk1"/>
              </a:buClr>
              <a:buSzPts val="18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adaptive learning based on individual student needs and pace. </a:t>
            </a:r>
          </a:p>
          <a:p>
            <a:pPr marL="114300" lvl="0" algn="just">
              <a:buClr>
                <a:schemeClr val="dk1"/>
              </a:buClr>
              <a:buSzPts val="18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 educators in:</a:t>
            </a:r>
          </a:p>
          <a:p>
            <a:pPr marL="114300" lvl="3" algn="just"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		*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lesson plans</a:t>
            </a:r>
          </a:p>
          <a:p>
            <a:pPr marL="114300" lvl="5" algn="just">
              <a:buClr>
                <a:schemeClr val="dk1"/>
              </a:buClr>
              <a:buSzPts val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	* Creating assessments</a:t>
            </a:r>
          </a:p>
          <a:p>
            <a:pPr marL="400050" lvl="5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collaborative and self-directed learning</a:t>
            </a:r>
          </a:p>
          <a:p>
            <a:pPr marL="114300" lvl="5" algn="just">
              <a:buClr>
                <a:schemeClr val="dk1"/>
              </a:buClr>
              <a:buSzPts val="18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5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Facilitate multilingual communication, improving accessibility for diverse      learners </a:t>
            </a:r>
          </a:p>
          <a:p>
            <a:pPr marL="400050" lvl="5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5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24/7, eliminating dependency on classroom schedules 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285136" y="127819"/>
            <a:ext cx="6508954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3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Chatbots in Education</a:t>
            </a:r>
            <a:endParaRPr sz="3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/>
        </p:nvSpPr>
        <p:spPr>
          <a:xfrm>
            <a:off x="206477" y="137652"/>
            <a:ext cx="610583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and Evolution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D14638-EDD2-A93E-BBBD-81108821C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51" y="1102659"/>
            <a:ext cx="886869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Early educational technologies included recorded lectures, static quizzes, and rule-based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These traditional systems lacked personalization and dynamic interaction for learners.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Advancements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Natural Language Processing (NLP)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led to the development of intelligent chatbot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AI chatbots can understand user intent and provide contextual, detailed explanations.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are capable of adapting responses dynamically according to student needs.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 chatbots are now widely adopted across educational platforms, schools, universities, and mobile learning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/>
        </p:nvSpPr>
        <p:spPr>
          <a:xfrm>
            <a:off x="226142" y="137651"/>
            <a:ext cx="404105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162232" y="1364847"/>
            <a:ext cx="8819535" cy="394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107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Increasing reliance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AI chatbots may reduce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learning.</a:t>
            </a:r>
          </a:p>
          <a:p>
            <a:pPr lvl="0">
              <a:lnSpc>
                <a:spcPct val="107000"/>
              </a:lnSpc>
              <a:buSzPct val="1000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may misuse AI tools for completing assignments and exams .</a:t>
            </a:r>
          </a:p>
          <a:p>
            <a:pPr lvl="0">
              <a:lnSpc>
                <a:spcPct val="107000"/>
              </a:lnSpc>
              <a:buSzPct val="1000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responses.</a:t>
            </a:r>
          </a:p>
          <a:p>
            <a:pPr lvl="0">
              <a:lnSpc>
                <a:spcPct val="107000"/>
              </a:lnSpc>
              <a:buSzPct val="1000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for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biased, misleading, or incorrect information.</a:t>
            </a:r>
          </a:p>
          <a:p>
            <a:pPr lvl="0">
              <a:lnSpc>
                <a:spcPct val="107000"/>
              </a:lnSpc>
              <a:buSzPct val="100000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storage.</a:t>
            </a:r>
          </a:p>
          <a:p>
            <a:pPr lvl="0">
              <a:lnSpc>
                <a:spcPct val="107000"/>
              </a:lnSpc>
              <a:buSzPct val="1000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of exposing children to harmful or inappropriate content.</a:t>
            </a:r>
          </a:p>
          <a:p>
            <a:pPr lvl="0">
              <a:lnSpc>
                <a:spcPct val="107000"/>
              </a:lnSpc>
              <a:buSzPct val="1000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 to balance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benefits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responsible usage.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/>
        </p:nvSpPr>
        <p:spPr>
          <a:xfrm>
            <a:off x="186812" y="157316"/>
            <a:ext cx="65254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3200" dirty="0">
                <a:solidFill>
                  <a:schemeClr val="bg1"/>
                </a:solidFill>
              </a:rPr>
              <a:t>Objectives of the study</a:t>
            </a:r>
            <a:endParaRPr lang="en-IN" sz="3200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186812" y="1052052"/>
            <a:ext cx="8888362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role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AI chatbots in education.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challenges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bias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dishonesty.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examine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impact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children’s thinking and learning abilities.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privacy risks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associated with AI usage.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suggest practical recommendations for responsible and safe implementation.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highlight the need for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integration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AI in education.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E4FE-7198-06FF-6A1F-2BC45581F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Literature Review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68269-57F4-1191-90B0-9BF66782D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819" y="983226"/>
            <a:ext cx="8558621" cy="4598574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research highlights that AI chatbots: </a:t>
            </a:r>
          </a:p>
          <a:p>
            <a:pPr marL="508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 Improve student engagement and motivation </a:t>
            </a:r>
          </a:p>
          <a:p>
            <a:pPr marL="508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* Provide instant feedback and personalized support</a:t>
            </a:r>
          </a:p>
          <a:p>
            <a:pPr marL="508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* Enhance accessibility to educational resources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simplify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concepts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explanations.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studies also emphasize: </a:t>
            </a:r>
          </a:p>
          <a:p>
            <a:pPr marL="508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 Risk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overdependence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technology.</a:t>
            </a:r>
          </a:p>
          <a:p>
            <a:pPr marL="508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* Reduced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interpersonal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interaction.</a:t>
            </a:r>
          </a:p>
          <a:p>
            <a:pPr marL="508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* Possibility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misinformation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08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concerns including bias and fairness.</a:t>
            </a:r>
          </a:p>
          <a:p>
            <a:pPr marL="508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 Privacy and data security issues.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592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title"/>
          </p:nvPr>
        </p:nvSpPr>
        <p:spPr>
          <a:xfrm>
            <a:off x="137651" y="46125"/>
            <a:ext cx="627298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chemeClr val="lt1"/>
              </a:buClr>
              <a:buSzPts val="3200"/>
            </a:pPr>
            <a:r>
              <a:rPr lang="en-IN" sz="3200" dirty="0">
                <a:solidFill>
                  <a:schemeClr val="bg1"/>
                </a:solidFill>
              </a:rPr>
              <a:t>Benefits of AI Chatbots</a:t>
            </a:r>
            <a:endParaRPr sz="3200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137651" y="1305362"/>
            <a:ext cx="8917859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tailored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needs.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feedback and doubt resolution.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24/7 availability for continuous learning.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independent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self-paced learning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concepts through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explanations.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environments.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non-judgmental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space for students to ask questions.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overall learning efficiency and engagement.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>
            <a:spLocks noGrp="1"/>
          </p:cNvSpPr>
          <p:nvPr>
            <p:ph type="title"/>
          </p:nvPr>
        </p:nvSpPr>
        <p:spPr>
          <a:xfrm>
            <a:off x="271217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chemeClr val="lt1"/>
              </a:buClr>
              <a:buSzPts val="3200"/>
            </a:pPr>
            <a:r>
              <a:rPr lang="en-IN" sz="3200" dirty="0">
                <a:solidFill>
                  <a:schemeClr val="bg1"/>
                </a:solidFill>
              </a:rPr>
              <a:t>Ethical Implications</a:t>
            </a:r>
            <a:endParaRPr lang="en-IN" sz="3200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C75EA-101B-9E9E-F131-F5A150F7D51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2563" y="1132059"/>
            <a:ext cx="878871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Academic dishonesty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increases when students rely on AI for assignments and exams.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Algorithmic bias may cause AI systems to provide biased, incomplete, or misleading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transparency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makes users unaware of 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AI-generated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responses are created.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Accountability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issues arise because responsibility for incorrect outputs remains unclear.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Unequal access to AI tools creates a digital divide among students.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Younger learners may develop blind trust in AI responses without critical evaluation.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/>
        </p:nvSpPr>
        <p:spPr>
          <a:xfrm>
            <a:off x="137651" y="167148"/>
            <a:ext cx="6646607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3000" dirty="0">
                <a:solidFill>
                  <a:schemeClr val="bg1"/>
                </a:solidFill>
              </a:rPr>
              <a:t>Cognitive Impact on children</a:t>
            </a:r>
            <a:endParaRPr sz="3000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0"/>
          <p:cNvSpPr txBox="1"/>
          <p:nvPr/>
        </p:nvSpPr>
        <p:spPr>
          <a:xfrm>
            <a:off x="137651" y="1351690"/>
            <a:ext cx="8622891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Overuse of AI chatbots may reduce critical thinking skills.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offloading: 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 Students rely on AI instead of retaining knowledge.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creativity due to reliance on ready-made answers.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Weak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problem-solving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abilities.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Decreased patience for deep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of passive learning behavior.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383D-6335-9A68-B95B-E08679843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47" y="157316"/>
            <a:ext cx="6676103" cy="599768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privacy risks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E3171-7121-B3D2-5DB3-AF90CF828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147" y="867101"/>
            <a:ext cx="8229240" cy="3977280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systems collect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breaches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Children may unknowingly share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awareness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regarding digital privacy practices.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Exposure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harmful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misleading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inappropriate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content.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data collection and usage policies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947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36EC4-6754-5C72-468F-D99D3FD4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solidFill>
                  <a:schemeClr val="bg1"/>
                </a:solidFill>
              </a:rPr>
              <a:t>Methodology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C6BF21-C0F0-E334-5650-6FD018594E5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03199" y="1086101"/>
            <a:ext cx="842952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study is based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qualitative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conceptual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approach.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data was collected from secondary sources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papers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academic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no primary data collection conducted.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The analysis was carried out using thematic analysis, which involved identifying recurring patterns and categorizing the findings into major themes.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main focus areas of the study include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ethical implications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cognitive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effects, and security risks associated with AI chatbots in education.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783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BA4D3-0D92-434E-8A54-8A3469392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959600" cy="914040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FDF675-7961-1C11-6D46-893D0A4EA71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2240" y="1036320"/>
            <a:ext cx="8306250" cy="49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was identified as the most widely used AI chatbot among students.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 usage indicates increasing dependency on AI tools in education.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frequently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AI for homework, assignments, and concept clarification.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Key findings show an increase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academic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dishonesty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among learners.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There is a noticeable reduction in critical thinking and independent learning skills.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Many students show over-reliance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responses instead of self-analysis.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Limited awareness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alternative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 tools was also observed.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Growing concerns regarding data privacy and security remain a major issue.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868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73C4-0E24-823D-BAF4-65E3F730E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17360" cy="914040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and 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0FC008-3A4A-DA7A-CA0A-AB311E0F458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1" y="1166842"/>
            <a:ext cx="843279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Promote guided and supervised use of AI chatbots in education.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 strong data protection, privacy policies, and content filtering mechanisms.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Enhance digital literacy among students for responsible and safe AI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Adopt innovative assessment methods like project-based learning and real-world problem-solving.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 chatbots improve learning efficiency and accessibility but also create ethical, cognitive, and security challenges.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 should be used as a support tool with proper regulation, not as a replacement for human intelligence.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738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400" b="0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1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1154</Words>
  <Application>Microsoft Office PowerPoint</Application>
  <PresentationFormat>On-screen Show (4:3)</PresentationFormat>
  <Paragraphs>187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Literature Review</vt:lpstr>
      <vt:lpstr>Benefits of AI Chatbots</vt:lpstr>
      <vt:lpstr>Ethical Implications</vt:lpstr>
      <vt:lpstr>PowerPoint Presentation</vt:lpstr>
      <vt:lpstr>Security and privacy risks</vt:lpstr>
      <vt:lpstr>Methodology</vt:lpstr>
      <vt:lpstr>Results and analysis</vt:lpstr>
      <vt:lpstr>Recommendations and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ABC</dc:creator>
  <cp:lastModifiedBy>Ansh Rehan</cp:lastModifiedBy>
  <cp:revision>6</cp:revision>
  <dcterms:created xsi:type="dcterms:W3CDTF">2010-04-09T07:36:15Z</dcterms:created>
  <dcterms:modified xsi:type="dcterms:W3CDTF">2026-04-29T14:14:46Z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